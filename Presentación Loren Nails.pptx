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71" r:id="rId6"/>
    <p:sldId id="262" r:id="rId7"/>
    <p:sldId id="269" r:id="rId8"/>
    <p:sldId id="270" r:id="rId9"/>
  </p:sldIdLst>
  <p:sldSz cx="12192000" cy="6858000"/>
  <p:notesSz cx="6858000" cy="914400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Work Sans" pitchFamily="2" charset="0"/>
      <p:regular r:id="rId15"/>
      <p:bold r:id="rId16"/>
      <p:italic r:id="rId17"/>
      <p:boldItalic r:id="rId18"/>
    </p:embeddedFont>
    <p:embeddedFont>
      <p:font typeface="Work Sans SemiBold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96" d="100"/>
          <a:sy n="96" d="100"/>
        </p:scale>
        <p:origin x="1116" y="408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0e628cec1_0_1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3f0e628cec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0e628cec1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CO" sz="1200" b="1" dirty="0" err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Visdualizar</a:t>
            </a: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inventario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S" sz="1200" b="0" i="0" u="none" strike="noStrike" cap="none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Control automático del stock disponible</a:t>
            </a:r>
            <a:endParaRPr lang="es-CO" sz="1200" b="1" dirty="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7" name="Google Shape;247;g3f0e628cec1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3914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0e628cec1_0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g3f0e628cec1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0e628cec1_0_7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g3f0e628cec1_0_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2" name="Google Shape;5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O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1012157" y="-117990"/>
            <a:ext cx="9041383" cy="3090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9960"/>
              </a:lnSpc>
              <a:spcBef>
                <a:spcPts val="1694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s-MX" sz="54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Loren Nails </a:t>
            </a:r>
            <a:endParaRPr sz="54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24264" y="343160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-MX" sz="1000" b="1" i="0" u="none" strike="noStrike" cap="none" dirty="0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FORMACIÓN SENA</a:t>
            </a:r>
            <a:endParaRPr sz="1000" b="1" i="0" u="none" strike="noStrike" cap="none" dirty="0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12157" y="2972559"/>
            <a:ext cx="9636157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accent5"/>
              </a:buClr>
              <a:buSzPts val="1100"/>
            </a:pPr>
            <a:r>
              <a:rPr lang="es-CO" sz="1200" b="1" dirty="0"/>
              <a:t>Sistema web para la gestión y agendamiento de citas de manicura y pedicura.</a:t>
            </a:r>
          </a:p>
          <a:p>
            <a:pPr lvl="0">
              <a:buClr>
                <a:schemeClr val="accent5"/>
              </a:buClr>
              <a:buSzPts val="1100"/>
            </a:pPr>
            <a:endParaRPr lang="es-CO" sz="1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accent5"/>
              </a:buClr>
              <a:buSzPts val="1100"/>
            </a:pPr>
            <a:r>
              <a:rPr lang="es-C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</a:t>
            </a:r>
          </a:p>
          <a:p>
            <a:pPr lvl="0">
              <a:buClr>
                <a:schemeClr val="accent5"/>
              </a:buClr>
              <a:buSzPts val="1100"/>
            </a:pPr>
            <a:r>
              <a:rPr lang="es-C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Sara Valentina Garzón Rojas </a:t>
            </a:r>
          </a:p>
          <a:p>
            <a:pPr lvl="0">
              <a:buClr>
                <a:schemeClr val="accent5"/>
              </a:buClr>
              <a:buSzPts val="1100"/>
            </a:pPr>
            <a:r>
              <a:rPr lang="es-C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Loren Sofia Diaz Gutierrez </a:t>
            </a:r>
          </a:p>
          <a:p>
            <a:pPr lvl="0">
              <a:buClr>
                <a:schemeClr val="accent5"/>
              </a:buClr>
              <a:buSzPts val="1100"/>
            </a:pPr>
            <a:endParaRPr lang="es-CO"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accent5"/>
              </a:buClr>
              <a:buSzPts val="1100"/>
            </a:pPr>
            <a:r>
              <a:rPr lang="es-CO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Tecnologías: Java – MySQL – HTML – CSS – NetBeans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541015" y="786381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 dirty="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¿Qué es Loren Nails?</a:t>
            </a:r>
            <a:endParaRPr sz="3600" b="1" dirty="0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40905" y="1966184"/>
            <a:ext cx="5943600" cy="905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r>
              <a:rPr lang="es-CO" sz="1200" b="0" i="0" u="none" strike="noStrike" cap="none" dirty="0">
                <a:solidFill>
                  <a:srgbClr val="22292E"/>
                </a:solidFill>
                <a:latin typeface="+mn-lt"/>
                <a:ea typeface="Calibri"/>
                <a:cs typeface="Calibri"/>
                <a:sym typeface="Calibri"/>
              </a:rPr>
              <a:t>Aplicación web orientada al sector de la manicura y pedicura, que centraliza la información de clientes, servicios, disponibilidad y citas para facilitar un agendamiento organizado y accesible. 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endParaRPr lang="es-CO" sz="1200" dirty="0">
              <a:solidFill>
                <a:srgbClr val="22292E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endParaRPr sz="14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896095" y="1728213"/>
            <a:ext cx="4755000" cy="4617600"/>
          </a:xfrm>
          <a:prstGeom prst="roundRect">
            <a:avLst>
              <a:gd name="adj" fmla="val 1584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" name="Google Shape;158;p16"/>
          <p:cNvSpPr/>
          <p:nvPr/>
        </p:nvSpPr>
        <p:spPr>
          <a:xfrm>
            <a:off x="7216135" y="195681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MX" sz="1200" b="1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CO" sz="1200" b="1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RQUITECTURA Y STACK DEL SISTEMA</a:t>
            </a: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7216135" y="241401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6" descr="icons/cod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6894" y="2544772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/>
          <p:nvPr/>
        </p:nvSpPr>
        <p:spPr>
          <a:xfrm>
            <a:off x="7901935" y="241401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901935" y="26791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Interfaz web (HTML, CSS, JavaScript)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7216135" y="320039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16" descr="icons/server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6894" y="333115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901935" y="320039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901935" y="346557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Java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7216135" y="3986781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16" descr="icons/databas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6894" y="4117540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/>
          <p:nvPr/>
        </p:nvSpPr>
        <p:spPr>
          <a:xfrm>
            <a:off x="7901935" y="398678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7901935" y="425195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216135" y="47731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16" descr="icons/clou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6894" y="490392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/>
          <p:nvPr/>
        </p:nvSpPr>
        <p:spPr>
          <a:xfrm>
            <a:off x="7901935" y="477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y entorno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7901935" y="503834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lang="es-CO" sz="1100" b="0" i="0" u="none" strike="noStrike" cap="none" dirty="0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NetBeans - Git</a:t>
            </a:r>
            <a:endParaRPr sz="1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59;p16">
            <a:extLst>
              <a:ext uri="{FF2B5EF4-FFF2-40B4-BE49-F238E27FC236}">
                <a16:creationId xmlns:a16="http://schemas.microsoft.com/office/drawing/2014/main" id="{B2B2B063-9560-348E-FD93-6C15480A8B5A}"/>
              </a:ext>
            </a:extLst>
          </p:cNvPr>
          <p:cNvSpPr/>
          <p:nvPr/>
        </p:nvSpPr>
        <p:spPr>
          <a:xfrm>
            <a:off x="546826" y="31847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59;p16">
            <a:extLst>
              <a:ext uri="{FF2B5EF4-FFF2-40B4-BE49-F238E27FC236}">
                <a16:creationId xmlns:a16="http://schemas.microsoft.com/office/drawing/2014/main" id="{61AC1B82-A370-45D3-0BD6-27C2F3ECCB18}"/>
              </a:ext>
            </a:extLst>
          </p:cNvPr>
          <p:cNvSpPr/>
          <p:nvPr/>
        </p:nvSpPr>
        <p:spPr>
          <a:xfrm>
            <a:off x="540905" y="389063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59;p16">
            <a:extLst>
              <a:ext uri="{FF2B5EF4-FFF2-40B4-BE49-F238E27FC236}">
                <a16:creationId xmlns:a16="http://schemas.microsoft.com/office/drawing/2014/main" id="{22F6513D-FC14-315A-920A-98FEC7CE1A02}"/>
              </a:ext>
            </a:extLst>
          </p:cNvPr>
          <p:cNvSpPr/>
          <p:nvPr/>
        </p:nvSpPr>
        <p:spPr>
          <a:xfrm>
            <a:off x="540905" y="455348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46;p16" descr="icons/window.png">
            <a:extLst>
              <a:ext uri="{FF2B5EF4-FFF2-40B4-BE49-F238E27FC236}">
                <a16:creationId xmlns:a16="http://schemas.microsoft.com/office/drawing/2014/main" id="{F7DCA445-4BDD-4C5E-2177-77BA883CC3E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5326" y="3350082"/>
            <a:ext cx="243844" cy="170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49;p16" descr="Calendario mensual con relleno sólido">
            <a:extLst>
              <a:ext uri="{FF2B5EF4-FFF2-40B4-BE49-F238E27FC236}">
                <a16:creationId xmlns:a16="http://schemas.microsoft.com/office/drawing/2014/main" id="{D4CFB719-B84D-102D-EB8A-58BBDB816E01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7480" y="4006114"/>
            <a:ext cx="261956" cy="261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5;p16" descr="Centro de llamadas con relleno sólido">
            <a:extLst>
              <a:ext uri="{FF2B5EF4-FFF2-40B4-BE49-F238E27FC236}">
                <a16:creationId xmlns:a16="http://schemas.microsoft.com/office/drawing/2014/main" id="{01EA32BE-A3A0-0431-9356-06D6FCD9FBE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69659" y="4654413"/>
            <a:ext cx="249511" cy="24951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47;p16">
            <a:extLst>
              <a:ext uri="{FF2B5EF4-FFF2-40B4-BE49-F238E27FC236}">
                <a16:creationId xmlns:a16="http://schemas.microsoft.com/office/drawing/2014/main" id="{9259179C-9267-72BF-CF6A-DC09DCAACAAD}"/>
              </a:ext>
            </a:extLst>
          </p:cNvPr>
          <p:cNvSpPr/>
          <p:nvPr/>
        </p:nvSpPr>
        <p:spPr>
          <a:xfrm>
            <a:off x="1181105" y="3227850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el catálogo de servicios de manicura y pedicura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50;p16">
            <a:extLst>
              <a:ext uri="{FF2B5EF4-FFF2-40B4-BE49-F238E27FC236}">
                <a16:creationId xmlns:a16="http://schemas.microsoft.com/office/drawing/2014/main" id="{B5512C24-C974-0E61-4368-60BFDF21D3EA}"/>
              </a:ext>
            </a:extLst>
          </p:cNvPr>
          <p:cNvSpPr/>
          <p:nvPr/>
        </p:nvSpPr>
        <p:spPr>
          <a:xfrm>
            <a:off x="1226705" y="3916390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Ver disponibilidad de fechas y horarios en tiempo real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56;p16">
            <a:extLst>
              <a:ext uri="{FF2B5EF4-FFF2-40B4-BE49-F238E27FC236}">
                <a16:creationId xmlns:a16="http://schemas.microsoft.com/office/drawing/2014/main" id="{0B298070-CE30-A86C-1923-49B5143CEFD8}"/>
              </a:ext>
            </a:extLst>
          </p:cNvPr>
          <p:cNvSpPr/>
          <p:nvPr/>
        </p:nvSpPr>
        <p:spPr>
          <a:xfrm>
            <a:off x="1181105" y="4567206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Agendar, modificar y cancelar citas en línea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9AA2C5F7-AB78-4F06-EB2B-DF63CEB7690A}"/>
              </a:ext>
            </a:extLst>
          </p:cNvPr>
          <p:cNvSpPr txBox="1"/>
          <p:nvPr/>
        </p:nvSpPr>
        <p:spPr>
          <a:xfrm>
            <a:off x="541015" y="2640592"/>
            <a:ext cx="6858000" cy="51586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2520"/>
              </a:lnSpc>
            </a:pPr>
            <a:r>
              <a:rPr lang="en-US" sz="1600" b="1" dirty="0">
                <a:solidFill>
                  <a:srgbClr val="003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El </a:t>
            </a:r>
            <a:r>
              <a:rPr lang="en-US" sz="1600" b="1" dirty="0" err="1">
                <a:solidFill>
                  <a:srgbClr val="003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sistema</a:t>
            </a:r>
            <a:r>
              <a:rPr lang="en-US" sz="1600" b="1" dirty="0">
                <a:solidFill>
                  <a:srgbClr val="003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00" b="1" dirty="0" err="1">
                <a:solidFill>
                  <a:srgbClr val="003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permite</a:t>
            </a:r>
            <a:r>
              <a:rPr lang="en-US" sz="1600" b="1" dirty="0">
                <a:solidFill>
                  <a:srgbClr val="00304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5436A29E-08FF-FEA5-B54E-905F5D13CD41}"/>
              </a:ext>
            </a:extLst>
          </p:cNvPr>
          <p:cNvGrpSpPr/>
          <p:nvPr/>
        </p:nvGrpSpPr>
        <p:grpSpPr>
          <a:xfrm>
            <a:off x="5983931" y="1659666"/>
            <a:ext cx="5710408" cy="4460225"/>
            <a:chOff x="0" y="0"/>
            <a:chExt cx="11430000" cy="8961006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B3FBC7-24C3-EBBD-7543-111F85676026}"/>
                </a:ext>
              </a:extLst>
            </p:cNvPr>
            <p:cNvSpPr/>
            <p:nvPr/>
          </p:nvSpPr>
          <p:spPr>
            <a:xfrm>
              <a:off x="0" y="0"/>
              <a:ext cx="11430000" cy="8960993"/>
            </a:xfrm>
            <a:custGeom>
              <a:avLst/>
              <a:gdLst/>
              <a:ahLst/>
              <a:cxnLst/>
              <a:rect l="l" t="t" r="r" b="b"/>
              <a:pathLst>
                <a:path w="11430000" h="8960993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1283696" y="0"/>
                  </a:lnTo>
                  <a:cubicBezTo>
                    <a:pt x="11364468" y="0"/>
                    <a:pt x="11430000" y="65532"/>
                    <a:pt x="11430000" y="146304"/>
                  </a:cubicBezTo>
                  <a:lnTo>
                    <a:pt x="11430000" y="8814689"/>
                  </a:lnTo>
                  <a:cubicBezTo>
                    <a:pt x="11430000" y="8895461"/>
                    <a:pt x="11364468" y="8960993"/>
                    <a:pt x="11283696" y="8960993"/>
                  </a:cubicBezTo>
                  <a:lnTo>
                    <a:pt x="146304" y="8960993"/>
                  </a:lnTo>
                  <a:cubicBezTo>
                    <a:pt x="65532" y="8960993"/>
                    <a:pt x="0" y="8895461"/>
                    <a:pt x="0" y="8814689"/>
                  </a:cubicBezTo>
                  <a:close/>
                </a:path>
              </a:pathLst>
            </a:custGeom>
            <a:solidFill>
              <a:srgbClr val="FACEC7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79" name="Google Shape;179;p17"/>
          <p:cNvSpPr/>
          <p:nvPr/>
        </p:nvSpPr>
        <p:spPr>
          <a:xfrm>
            <a:off x="54101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40895" y="1659666"/>
            <a:ext cx="5120700" cy="4480500"/>
          </a:xfrm>
          <a:prstGeom prst="roundRect">
            <a:avLst>
              <a:gd name="adj" fmla="val 1633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17"/>
          <p:cNvSpPr/>
          <p:nvPr/>
        </p:nvSpPr>
        <p:spPr>
          <a:xfrm>
            <a:off x="861055" y="187452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MX" sz="1600" b="1" dirty="0">
                <a:latin typeface="Calibri"/>
                <a:ea typeface="Calibri"/>
                <a:cs typeface="Calibri"/>
                <a:sym typeface="Calibri"/>
              </a:rPr>
              <a:t>Gestión manual e informal</a:t>
            </a:r>
            <a:r>
              <a:rPr lang="es-MX" sz="16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861055" y="233172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40779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1290823" y="229514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Muchas manicuristas gestionan sus citas por WhatsApp, llamadas o de forma manual.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61055" y="2866644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2942722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/>
          <p:nvPr/>
        </p:nvSpPr>
        <p:spPr>
          <a:xfrm>
            <a:off x="1290823" y="2830068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Desorganización de la información y pérdida de datos de clientes.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61055" y="3401568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3477646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/>
          <p:nvPr/>
        </p:nvSpPr>
        <p:spPr>
          <a:xfrm>
            <a:off x="1290823" y="3364992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MX" sz="11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Dificultad para controlar la disponibilidad y evitar cruces de horarios.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861055" y="3936492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2" name="Google Shape;192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012570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1290823" y="3899916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MX" sz="11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Falta de historial de servicios y seguimiento de clientes.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861055" y="4471416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5" name="Google Shape;195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45474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/>
          <p:nvPr/>
        </p:nvSpPr>
        <p:spPr>
          <a:xfrm>
            <a:off x="1290823" y="4434840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MX" sz="11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Ausencia de un canal digital para agendar citas.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861055" y="500634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17" descr="icons/warning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133" y="508241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7"/>
          <p:cNvSpPr/>
          <p:nvPr/>
        </p:nvSpPr>
        <p:spPr>
          <a:xfrm>
            <a:off x="1290823" y="496976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Baja presencia digital frente a la competencia. 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6941815" y="1993392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identificado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256015" y="2606040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lang="es-CO" sz="125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falta de un sistema centralizado genera demoras, confusión de horarios y una experiencia de agendamiento poco organizada para los clientes.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6256015" y="3611880"/>
            <a:ext cx="5120700" cy="2331600"/>
          </a:xfrm>
          <a:prstGeom prst="roundRect">
            <a:avLst>
              <a:gd name="adj" fmla="val 3137"/>
            </a:avLst>
          </a:prstGeom>
          <a:solidFill>
            <a:srgbClr val="00304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6530335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200" b="1" i="0" u="none" strike="noStrik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6530335" y="4114800"/>
            <a:ext cx="46176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s-CO" sz="13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Loren Nails centraliza la información de clientes, servicios y citas en una aplicación web, digitalizando el agendamiento y reduciendo la gestión manual.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55">
            <a:extLst>
              <a:ext uri="{FF2B5EF4-FFF2-40B4-BE49-F238E27FC236}">
                <a16:creationId xmlns:a16="http://schemas.microsoft.com/office/drawing/2014/main" id="{043B64EF-FF8D-9D0E-A24B-7835EA062DDA}"/>
              </a:ext>
            </a:extLst>
          </p:cNvPr>
          <p:cNvGrpSpPr/>
          <p:nvPr/>
        </p:nvGrpSpPr>
        <p:grpSpPr>
          <a:xfrm>
            <a:off x="6292651" y="1874520"/>
            <a:ext cx="577183" cy="615106"/>
            <a:chOff x="0" y="0"/>
            <a:chExt cx="1097394" cy="1097394"/>
          </a:xfrm>
        </p:grpSpPr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8CD1EAD5-39B0-32EA-EED3-92AF6E83152D}"/>
                </a:ext>
              </a:extLst>
            </p:cNvPr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789"/>
                    <a:pt x="0" y="548640"/>
                  </a:cubicBezTo>
                  <a:close/>
                </a:path>
              </a:pathLst>
            </a:custGeom>
            <a:solidFill>
              <a:srgbClr val="C74E3C"/>
            </a:solid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7" name="Freeform 72" descr="icons/bullseye.png">
            <a:extLst>
              <a:ext uri="{FF2B5EF4-FFF2-40B4-BE49-F238E27FC236}">
                <a16:creationId xmlns:a16="http://schemas.microsoft.com/office/drawing/2014/main" id="{E797F06C-24C9-C592-FAC3-E7E59F88382F}"/>
              </a:ext>
            </a:extLst>
          </p:cNvPr>
          <p:cNvSpPr/>
          <p:nvPr/>
        </p:nvSpPr>
        <p:spPr>
          <a:xfrm>
            <a:off x="6389025" y="1975062"/>
            <a:ext cx="384374" cy="406980"/>
          </a:xfrm>
          <a:custGeom>
            <a:avLst/>
            <a:gdLst/>
            <a:ahLst/>
            <a:cxnLst/>
            <a:rect l="l" t="t" r="r" b="b"/>
            <a:pathLst>
              <a:path w="491617" h="491617">
                <a:moveTo>
                  <a:pt x="0" y="0"/>
                </a:moveTo>
                <a:lnTo>
                  <a:pt x="491617" y="0"/>
                </a:lnTo>
                <a:lnTo>
                  <a:pt x="491617" y="491617"/>
                </a:lnTo>
                <a:lnTo>
                  <a:pt x="0" y="491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7" b="7"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00"/>
              <a:buFont typeface="Calibri"/>
              <a:buNone/>
            </a:pPr>
            <a:r>
              <a:rPr lang="es-MX" dirty="0">
                <a:latin typeface="Calibri"/>
                <a:ea typeface="Calibri"/>
                <a:cs typeface="Calibri"/>
                <a:sym typeface="Calibri"/>
              </a:rPr>
              <a:t>Loren Nails se justifica por la necesidad de modernizar la gestión del agendamiento de citas y ofrecer una experiencia de reserva digital organizada, rápida y accesible.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48640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011680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8" descr="icons/cog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9081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/>
          <p:nvPr/>
        </p:nvSpPr>
        <p:spPr>
          <a:xfrm>
            <a:off x="685800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Modernizar la gestión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85800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Organizar servicios, citas y disponibilidad de la agenda. 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4334256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797296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8" descr="icons/chec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4697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/>
          <p:nvPr/>
        </p:nvSpPr>
        <p:spPr>
          <a:xfrm>
            <a:off x="4471416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Reducir errores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4471416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Menos cruces de horarios por procesos manuales.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8119872" y="2423160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582912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7" name="Google Shape;227;p18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30313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8257032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Agendamiento</a:t>
            </a:r>
            <a:r>
              <a:rPr lang="es-CO" sz="13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digital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8257032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Reserva 24/7 desde cualquier dispositivo 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548640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2011680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2" name="Google Shape;232;p18" descr="Care con relleno sólido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159081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/>
          <p:nvPr/>
        </p:nvSpPr>
        <p:spPr>
          <a:xfrm>
            <a:off x="685800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Cuidados</a:t>
            </a:r>
            <a:endParaRPr sz="13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685800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Recomendaciones de cuidado y atención más ágil.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4334256" y="4316028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5797296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18" descr="icons/chart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44697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/>
          <p:nvPr/>
        </p:nvSpPr>
        <p:spPr>
          <a:xfrm>
            <a:off x="4471416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Mejor administración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4471416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Mayor control de la agenda y del historial. 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8119872" y="4370832"/>
            <a:ext cx="3492900" cy="1691700"/>
          </a:xfrm>
          <a:prstGeom prst="roundRect">
            <a:avLst>
              <a:gd name="adj" fmla="val 4324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9582912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18" descr="icons/shiel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30313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8"/>
          <p:cNvSpPr/>
          <p:nvPr/>
        </p:nvSpPr>
        <p:spPr>
          <a:xfrm>
            <a:off x="8257032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Confianza del cliente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8257032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lang="es-CO" sz="1050" b="0" i="0" u="none" strike="noStrike" cap="none" dirty="0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Información clara sobre servicios, precios y disponibilidad.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9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548640" y="1645920"/>
            <a:ext cx="10607100" cy="1051500"/>
          </a:xfrm>
          <a:prstGeom prst="roundRect">
            <a:avLst>
              <a:gd name="adj" fmla="val 6957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868680" y="187452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9" descr="icons/bullsey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3214" y="2029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9"/>
          <p:cNvSpPr/>
          <p:nvPr/>
        </p:nvSpPr>
        <p:spPr>
          <a:xfrm>
            <a:off x="1645920" y="17647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lang="es-CO" sz="160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1645920" y="1970975"/>
            <a:ext cx="92355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250"/>
            </a:pPr>
            <a:r>
              <a:rPr lang="es-CO" dirty="0">
                <a:solidFill>
                  <a:schemeClr val="bg1"/>
                </a:solidFill>
              </a:rPr>
              <a:t>Desarrollar un sistema de gestión web para Loren Nails que permita automatizar el agendamiento de citas, administrar los servicios de manicura y pedicura y optimizar la experiencia del usuario y del personal.</a:t>
            </a:r>
            <a:endParaRPr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548640" y="292608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lang="es-CO" sz="15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5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38119" y="3319492"/>
            <a:ext cx="1748141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8" name="Google Shape;258;p19"/>
          <p:cNvSpPr/>
          <p:nvPr/>
        </p:nvSpPr>
        <p:spPr>
          <a:xfrm>
            <a:off x="1235084" y="3421498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59" name="Google Shape;259;p19" descr="Lupa con relleno sólido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52965" y="3522713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/>
          <p:nvPr/>
        </p:nvSpPr>
        <p:spPr>
          <a:xfrm>
            <a:off x="628588" y="3828272"/>
            <a:ext cx="1567202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Analizar necesidades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690570" y="4465952"/>
            <a:ext cx="1544246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dirty="0"/>
              <a:t>Analizar las necesidades del negocio y de los usuarios para definir el alcance, los actores y los requisitos.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57;p19">
            <a:extLst>
              <a:ext uri="{FF2B5EF4-FFF2-40B4-BE49-F238E27FC236}">
                <a16:creationId xmlns:a16="http://schemas.microsoft.com/office/drawing/2014/main" id="{D5531A48-2DA7-0B54-2459-CC5ECFA40D9C}"/>
              </a:ext>
            </a:extLst>
          </p:cNvPr>
          <p:cNvSpPr/>
          <p:nvPr/>
        </p:nvSpPr>
        <p:spPr>
          <a:xfrm>
            <a:off x="2561846" y="3333002"/>
            <a:ext cx="1636280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258;p19">
            <a:extLst>
              <a:ext uri="{FF2B5EF4-FFF2-40B4-BE49-F238E27FC236}">
                <a16:creationId xmlns:a16="http://schemas.microsoft.com/office/drawing/2014/main" id="{3DA7E4CC-FD56-56C6-71BF-0D72269CA99D}"/>
              </a:ext>
            </a:extLst>
          </p:cNvPr>
          <p:cNvSpPr/>
          <p:nvPr/>
        </p:nvSpPr>
        <p:spPr>
          <a:xfrm>
            <a:off x="3177523" y="342900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260;p19">
            <a:extLst>
              <a:ext uri="{FF2B5EF4-FFF2-40B4-BE49-F238E27FC236}">
                <a16:creationId xmlns:a16="http://schemas.microsoft.com/office/drawing/2014/main" id="{7BDA24A5-FF1E-08D5-A413-9546021EEB21}"/>
              </a:ext>
            </a:extLst>
          </p:cNvPr>
          <p:cNvSpPr/>
          <p:nvPr/>
        </p:nvSpPr>
        <p:spPr>
          <a:xfrm>
            <a:off x="2590438" y="3871972"/>
            <a:ext cx="1567202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Definir requisitos 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61;p19">
            <a:extLst>
              <a:ext uri="{FF2B5EF4-FFF2-40B4-BE49-F238E27FC236}">
                <a16:creationId xmlns:a16="http://schemas.microsoft.com/office/drawing/2014/main" id="{3C7CC579-DD91-9B8F-AEED-DDE3383AC714}"/>
              </a:ext>
            </a:extLst>
          </p:cNvPr>
          <p:cNvSpPr/>
          <p:nvPr/>
        </p:nvSpPr>
        <p:spPr>
          <a:xfrm>
            <a:off x="2601916" y="4453930"/>
            <a:ext cx="1544246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dirty="0"/>
              <a:t>Identificar y documentar los requisitos funcionales y no funcionales del sistema.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57;p19">
            <a:extLst>
              <a:ext uri="{FF2B5EF4-FFF2-40B4-BE49-F238E27FC236}">
                <a16:creationId xmlns:a16="http://schemas.microsoft.com/office/drawing/2014/main" id="{ADFF6EAE-D232-C8BC-5961-8B65CF449BE1}"/>
              </a:ext>
            </a:extLst>
          </p:cNvPr>
          <p:cNvSpPr/>
          <p:nvPr/>
        </p:nvSpPr>
        <p:spPr>
          <a:xfrm>
            <a:off x="4467395" y="3348368"/>
            <a:ext cx="1674161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" name="Google Shape;258;p19">
            <a:extLst>
              <a:ext uri="{FF2B5EF4-FFF2-40B4-BE49-F238E27FC236}">
                <a16:creationId xmlns:a16="http://schemas.microsoft.com/office/drawing/2014/main" id="{662DFCEA-4E93-4792-E061-83D82A5D16C3}"/>
              </a:ext>
            </a:extLst>
          </p:cNvPr>
          <p:cNvSpPr/>
          <p:nvPr/>
        </p:nvSpPr>
        <p:spPr>
          <a:xfrm>
            <a:off x="5075875" y="3439928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60;p19">
            <a:extLst>
              <a:ext uri="{FF2B5EF4-FFF2-40B4-BE49-F238E27FC236}">
                <a16:creationId xmlns:a16="http://schemas.microsoft.com/office/drawing/2014/main" id="{A34BFCCC-F1EA-29BE-91B2-05ABB21637A5}"/>
              </a:ext>
            </a:extLst>
          </p:cNvPr>
          <p:cNvSpPr/>
          <p:nvPr/>
        </p:nvSpPr>
        <p:spPr>
          <a:xfrm>
            <a:off x="4528798" y="3850085"/>
            <a:ext cx="1567202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Diseñar el sistema  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61;p19">
            <a:extLst>
              <a:ext uri="{FF2B5EF4-FFF2-40B4-BE49-F238E27FC236}">
                <a16:creationId xmlns:a16="http://schemas.microsoft.com/office/drawing/2014/main" id="{66F0A883-E440-BDA4-EBBA-C388601E9D8E}"/>
              </a:ext>
            </a:extLst>
          </p:cNvPr>
          <p:cNvSpPr/>
          <p:nvPr/>
        </p:nvSpPr>
        <p:spPr>
          <a:xfrm>
            <a:off x="4528798" y="4465952"/>
            <a:ext cx="1544246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dirty="0"/>
              <a:t>Diseñar la arquitectura, la base de datos y las interfaces de usuario según los requisitos establecidos.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57;p19">
            <a:extLst>
              <a:ext uri="{FF2B5EF4-FFF2-40B4-BE49-F238E27FC236}">
                <a16:creationId xmlns:a16="http://schemas.microsoft.com/office/drawing/2014/main" id="{915DA148-BE1C-FB70-D995-E0669D9BBA77}"/>
              </a:ext>
            </a:extLst>
          </p:cNvPr>
          <p:cNvSpPr/>
          <p:nvPr/>
        </p:nvSpPr>
        <p:spPr>
          <a:xfrm>
            <a:off x="6410825" y="3337560"/>
            <a:ext cx="1674161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" name="Google Shape;258;p19">
            <a:extLst>
              <a:ext uri="{FF2B5EF4-FFF2-40B4-BE49-F238E27FC236}">
                <a16:creationId xmlns:a16="http://schemas.microsoft.com/office/drawing/2014/main" id="{9E9BD77F-CE54-7C22-14A6-57EF1CD2860F}"/>
              </a:ext>
            </a:extLst>
          </p:cNvPr>
          <p:cNvSpPr/>
          <p:nvPr/>
        </p:nvSpPr>
        <p:spPr>
          <a:xfrm>
            <a:off x="7019305" y="341477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" name="Google Shape;260;p19">
            <a:extLst>
              <a:ext uri="{FF2B5EF4-FFF2-40B4-BE49-F238E27FC236}">
                <a16:creationId xmlns:a16="http://schemas.microsoft.com/office/drawing/2014/main" id="{A7BDEE88-20D1-128B-AB1B-14CC03CA4A8D}"/>
              </a:ext>
            </a:extLst>
          </p:cNvPr>
          <p:cNvSpPr/>
          <p:nvPr/>
        </p:nvSpPr>
        <p:spPr>
          <a:xfrm>
            <a:off x="6464304" y="3904652"/>
            <a:ext cx="1567202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Desarrollar funcionalidades  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61;p19">
            <a:extLst>
              <a:ext uri="{FF2B5EF4-FFF2-40B4-BE49-F238E27FC236}">
                <a16:creationId xmlns:a16="http://schemas.microsoft.com/office/drawing/2014/main" id="{9B9E320B-09FA-3E21-7332-9A904CAA8C5A}"/>
              </a:ext>
            </a:extLst>
          </p:cNvPr>
          <p:cNvSpPr/>
          <p:nvPr/>
        </p:nvSpPr>
        <p:spPr>
          <a:xfrm>
            <a:off x="6475782" y="4512112"/>
            <a:ext cx="1544246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dirty="0"/>
              <a:t>Desarrollar los módulos y funcionalidades para la gestión de información y citas.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57;p19">
            <a:extLst>
              <a:ext uri="{FF2B5EF4-FFF2-40B4-BE49-F238E27FC236}">
                <a16:creationId xmlns:a16="http://schemas.microsoft.com/office/drawing/2014/main" id="{8DDC1C7D-3793-0773-922E-80BE973704C8}"/>
              </a:ext>
            </a:extLst>
          </p:cNvPr>
          <p:cNvSpPr/>
          <p:nvPr/>
        </p:nvSpPr>
        <p:spPr>
          <a:xfrm>
            <a:off x="8295663" y="3317707"/>
            <a:ext cx="1783523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" name="Google Shape;258;p19">
            <a:extLst>
              <a:ext uri="{FF2B5EF4-FFF2-40B4-BE49-F238E27FC236}">
                <a16:creationId xmlns:a16="http://schemas.microsoft.com/office/drawing/2014/main" id="{C874F529-7271-1546-962F-FEC5D3087CBD}"/>
              </a:ext>
            </a:extLst>
          </p:cNvPr>
          <p:cNvSpPr/>
          <p:nvPr/>
        </p:nvSpPr>
        <p:spPr>
          <a:xfrm>
            <a:off x="8958824" y="341065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" name="Google Shape;260;p19">
            <a:extLst>
              <a:ext uri="{FF2B5EF4-FFF2-40B4-BE49-F238E27FC236}">
                <a16:creationId xmlns:a16="http://schemas.microsoft.com/office/drawing/2014/main" id="{505F5D92-6E84-DDF2-C11A-FE9483368023}"/>
              </a:ext>
            </a:extLst>
          </p:cNvPr>
          <p:cNvSpPr/>
          <p:nvPr/>
        </p:nvSpPr>
        <p:spPr>
          <a:xfrm>
            <a:off x="8403824" y="3904652"/>
            <a:ext cx="1567202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Implementar interfaz responsive </a:t>
            </a: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261;p19">
            <a:extLst>
              <a:ext uri="{FF2B5EF4-FFF2-40B4-BE49-F238E27FC236}">
                <a16:creationId xmlns:a16="http://schemas.microsoft.com/office/drawing/2014/main" id="{CEF8BDCF-86CF-D5B1-C4D8-677EF1FEFD03}"/>
              </a:ext>
            </a:extLst>
          </p:cNvPr>
          <p:cNvSpPr/>
          <p:nvPr/>
        </p:nvSpPr>
        <p:spPr>
          <a:xfrm>
            <a:off x="8403824" y="4471385"/>
            <a:ext cx="1544246" cy="926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dirty="0"/>
              <a:t>Desarrollar los módulos y Implementar una interfaz web adaptable a los dispositivos contemplados en el proyecto.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257;p19">
            <a:extLst>
              <a:ext uri="{FF2B5EF4-FFF2-40B4-BE49-F238E27FC236}">
                <a16:creationId xmlns:a16="http://schemas.microsoft.com/office/drawing/2014/main" id="{0C4A9179-FB2B-DA6E-8F03-02AB04260107}"/>
              </a:ext>
            </a:extLst>
          </p:cNvPr>
          <p:cNvSpPr/>
          <p:nvPr/>
        </p:nvSpPr>
        <p:spPr>
          <a:xfrm>
            <a:off x="10289864" y="3296833"/>
            <a:ext cx="1657494" cy="2148900"/>
          </a:xfrm>
          <a:prstGeom prst="roundRect">
            <a:avLst>
              <a:gd name="adj" fmla="val 373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" name="Google Shape;258;p19">
            <a:extLst>
              <a:ext uri="{FF2B5EF4-FFF2-40B4-BE49-F238E27FC236}">
                <a16:creationId xmlns:a16="http://schemas.microsoft.com/office/drawing/2014/main" id="{37FB4E47-3147-7F95-8549-7511FFCBA13E}"/>
              </a:ext>
            </a:extLst>
          </p:cNvPr>
          <p:cNvSpPr/>
          <p:nvPr/>
        </p:nvSpPr>
        <p:spPr>
          <a:xfrm>
            <a:off x="10890011" y="342900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" name="Google Shape;260;p19">
            <a:extLst>
              <a:ext uri="{FF2B5EF4-FFF2-40B4-BE49-F238E27FC236}">
                <a16:creationId xmlns:a16="http://schemas.microsoft.com/office/drawing/2014/main" id="{EB13A258-B6E9-5219-54DD-19D9FD55D4B0}"/>
              </a:ext>
            </a:extLst>
          </p:cNvPr>
          <p:cNvSpPr/>
          <p:nvPr/>
        </p:nvSpPr>
        <p:spPr>
          <a:xfrm>
            <a:off x="10311031" y="3871972"/>
            <a:ext cx="1567202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lang="es-CO" sz="12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Realizar pruebas </a:t>
            </a:r>
            <a:endParaRPr lang="es-CO"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261;p19">
            <a:extLst>
              <a:ext uri="{FF2B5EF4-FFF2-40B4-BE49-F238E27FC236}">
                <a16:creationId xmlns:a16="http://schemas.microsoft.com/office/drawing/2014/main" id="{91F46572-05D6-B012-BE6D-B3A79AC8C0E1}"/>
              </a:ext>
            </a:extLst>
          </p:cNvPr>
          <p:cNvSpPr/>
          <p:nvPr/>
        </p:nvSpPr>
        <p:spPr>
          <a:xfrm>
            <a:off x="10346488" y="4422818"/>
            <a:ext cx="1544246" cy="81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5B6670"/>
              </a:buClr>
              <a:buSzPts val="950"/>
            </a:pPr>
            <a:r>
              <a:rPr lang="es-CO" sz="1050" dirty="0"/>
              <a:t>Verificar el funcionamiento de las funcionalidades desarrolladas y detectar posibles errores antes de la entrega.</a:t>
            </a:r>
            <a:endParaRPr sz="10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259;p19" descr="Lista de comprobación con relleno sólido">
            <a:extLst>
              <a:ext uri="{FF2B5EF4-FFF2-40B4-BE49-F238E27FC236}">
                <a16:creationId xmlns:a16="http://schemas.microsoft.com/office/drawing/2014/main" id="{F38D3F9D-6D36-CD00-EFCB-A2445D63A8E5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96395" y="3547872"/>
            <a:ext cx="219456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259;p19" descr="Engranajes con relleno sólido">
            <a:extLst>
              <a:ext uri="{FF2B5EF4-FFF2-40B4-BE49-F238E27FC236}">
                <a16:creationId xmlns:a16="http://schemas.microsoft.com/office/drawing/2014/main" id="{D1D71637-1209-3343-DC6A-006D0B879E40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190837" y="3540370"/>
            <a:ext cx="219456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259;p19" descr="Mujer programadora con relleno sólido">
            <a:extLst>
              <a:ext uri="{FF2B5EF4-FFF2-40B4-BE49-F238E27FC236}">
                <a16:creationId xmlns:a16="http://schemas.microsoft.com/office/drawing/2014/main" id="{E8F16728-20C0-9F2D-6006-E9BD670C88C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138177" y="3528574"/>
            <a:ext cx="219456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259;p19" descr="Smartphone con relleno sólido">
            <a:extLst>
              <a:ext uri="{FF2B5EF4-FFF2-40B4-BE49-F238E27FC236}">
                <a16:creationId xmlns:a16="http://schemas.microsoft.com/office/drawing/2014/main" id="{3C181B72-6433-9A57-DF66-3FD28F3B9ACE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077697" y="3522713"/>
            <a:ext cx="219456" cy="219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259;p19" descr="Marca de verificación con relleno sólido">
            <a:extLst>
              <a:ext uri="{FF2B5EF4-FFF2-40B4-BE49-F238E27FC236}">
                <a16:creationId xmlns:a16="http://schemas.microsoft.com/office/drawing/2014/main" id="{C60C545E-6572-015B-C8FF-BD039F454DC1}"/>
              </a:ext>
            </a:extLst>
          </p:cNvPr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008883" y="3547872"/>
            <a:ext cx="219456" cy="219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586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88;p20">
            <a:extLst>
              <a:ext uri="{FF2B5EF4-FFF2-40B4-BE49-F238E27FC236}">
                <a16:creationId xmlns:a16="http://schemas.microsoft.com/office/drawing/2014/main" id="{F5CE18F9-EB4F-BA72-9B78-FEC18E4824D0}"/>
              </a:ext>
            </a:extLst>
          </p:cNvPr>
          <p:cNvSpPr/>
          <p:nvPr/>
        </p:nvSpPr>
        <p:spPr>
          <a:xfrm>
            <a:off x="6311524" y="1632174"/>
            <a:ext cx="263652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88;p20">
            <a:extLst>
              <a:ext uri="{FF2B5EF4-FFF2-40B4-BE49-F238E27FC236}">
                <a16:creationId xmlns:a16="http://schemas.microsoft.com/office/drawing/2014/main" id="{9D2C86DB-ADAE-9382-5729-18137B51DEF1}"/>
              </a:ext>
            </a:extLst>
          </p:cNvPr>
          <p:cNvSpPr/>
          <p:nvPr/>
        </p:nvSpPr>
        <p:spPr>
          <a:xfrm>
            <a:off x="3408823" y="1645920"/>
            <a:ext cx="263652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88;p20">
            <a:extLst>
              <a:ext uri="{FF2B5EF4-FFF2-40B4-BE49-F238E27FC236}">
                <a16:creationId xmlns:a16="http://schemas.microsoft.com/office/drawing/2014/main" id="{B45113DC-BFF4-5DBB-EE35-CDDD58322C02}"/>
              </a:ext>
            </a:extLst>
          </p:cNvPr>
          <p:cNvSpPr/>
          <p:nvPr/>
        </p:nvSpPr>
        <p:spPr>
          <a:xfrm>
            <a:off x="548640" y="1645920"/>
            <a:ext cx="2636520" cy="4480500"/>
          </a:xfrm>
          <a:prstGeom prst="roundRect">
            <a:avLst>
              <a:gd name="adj" fmla="val 2162"/>
            </a:avLst>
          </a:prstGeom>
          <a:solidFill>
            <a:srgbClr val="EDF6E8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0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lang="es-CO" sz="1300" b="1" i="0" u="none" strike="noStrik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DELIMITACIÓN</a:t>
            </a:r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86868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" name="Google Shape;290;p20" descr="icons/use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32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0"/>
          <p:cNvSpPr/>
          <p:nvPr/>
        </p:nvSpPr>
        <p:spPr>
          <a:xfrm>
            <a:off x="1554480" y="199339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CO" sz="1600" b="1" i="0" u="none" strike="noStrik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86868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868680" y="34152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servicios y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horarios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868680" y="42656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i="0" u="none" strike="noStrike" cap="none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s-CO" sz="1150" b="0" i="0" u="none" strike="noStrike" cap="none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gendar citas y gestionar citas</a:t>
            </a:r>
          </a:p>
        </p:txBody>
      </p:sp>
      <p:sp>
        <p:nvSpPr>
          <p:cNvPr id="295" name="Google Shape;295;p20"/>
          <p:cNvSpPr/>
          <p:nvPr/>
        </p:nvSpPr>
        <p:spPr>
          <a:xfrm>
            <a:off x="868680" y="51160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11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50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historial 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3822986" y="1856292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20" descr="Female Profile con relleno sólido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79834" y="199896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4528534" y="1920180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MX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s-CO" sz="1600" b="1" dirty="0" err="1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anicurista</a:t>
            </a:r>
            <a:r>
              <a:rPr lang="es-CO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01;p20">
            <a:extLst>
              <a:ext uri="{FF2B5EF4-FFF2-40B4-BE49-F238E27FC236}">
                <a16:creationId xmlns:a16="http://schemas.microsoft.com/office/drawing/2014/main" id="{285C1B75-61F4-88FB-E0E9-1A1427C0853F}"/>
              </a:ext>
            </a:extLst>
          </p:cNvPr>
          <p:cNvSpPr/>
          <p:nvPr/>
        </p:nvSpPr>
        <p:spPr>
          <a:xfrm>
            <a:off x="3731563" y="2631453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agenda de citas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02;p20">
            <a:extLst>
              <a:ext uri="{FF2B5EF4-FFF2-40B4-BE49-F238E27FC236}">
                <a16:creationId xmlns:a16="http://schemas.microsoft.com/office/drawing/2014/main" id="{1A33DE6A-FAA8-5EFF-0F97-63E6EB1C12B9}"/>
              </a:ext>
            </a:extLst>
          </p:cNvPr>
          <p:cNvSpPr/>
          <p:nvPr/>
        </p:nvSpPr>
        <p:spPr>
          <a:xfrm>
            <a:off x="3731563" y="3415224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05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Confirmar o reprogramar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turnos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03;p20">
            <a:extLst>
              <a:ext uri="{FF2B5EF4-FFF2-40B4-BE49-F238E27FC236}">
                <a16:creationId xmlns:a16="http://schemas.microsoft.com/office/drawing/2014/main" id="{D4BD71D3-5F05-0EA3-23FF-80D444AC0CAD}"/>
              </a:ext>
            </a:extLst>
          </p:cNvPr>
          <p:cNvSpPr/>
          <p:nvPr/>
        </p:nvSpPr>
        <p:spPr>
          <a:xfrm>
            <a:off x="3731563" y="4239272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Registrar observaciones del servicio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304;p20">
            <a:extLst>
              <a:ext uri="{FF2B5EF4-FFF2-40B4-BE49-F238E27FC236}">
                <a16:creationId xmlns:a16="http://schemas.microsoft.com/office/drawing/2014/main" id="{65100361-06C7-DC2C-9892-D23CB2DC0ECC}"/>
              </a:ext>
            </a:extLst>
          </p:cNvPr>
          <p:cNvSpPr/>
          <p:nvPr/>
        </p:nvSpPr>
        <p:spPr>
          <a:xfrm>
            <a:off x="3748980" y="5024628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Atención al cliente diaria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98;p20">
            <a:extLst>
              <a:ext uri="{FF2B5EF4-FFF2-40B4-BE49-F238E27FC236}">
                <a16:creationId xmlns:a16="http://schemas.microsoft.com/office/drawing/2014/main" id="{900BF14A-51E4-A9E8-CA3C-DC9E6BC7970B}"/>
              </a:ext>
            </a:extLst>
          </p:cNvPr>
          <p:cNvSpPr/>
          <p:nvPr/>
        </p:nvSpPr>
        <p:spPr>
          <a:xfrm>
            <a:off x="6540184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299;p20_admin_copy" descr="icons/cogs.png">
            <a:extLst>
              <a:ext uri="{FF2B5EF4-FFF2-40B4-BE49-F238E27FC236}">
                <a16:creationId xmlns:a16="http://schemas.microsoft.com/office/drawing/2014/main" id="{6E9674B2-15E8-3F01-CB18-D145DB3E2C5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79464" y="2059081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300;p20">
            <a:extLst>
              <a:ext uri="{FF2B5EF4-FFF2-40B4-BE49-F238E27FC236}">
                <a16:creationId xmlns:a16="http://schemas.microsoft.com/office/drawing/2014/main" id="{747FB762-81AB-D483-FF78-AFB574518503}"/>
              </a:ext>
            </a:extLst>
          </p:cNvPr>
          <p:cNvSpPr/>
          <p:nvPr/>
        </p:nvSpPr>
        <p:spPr>
          <a:xfrm>
            <a:off x="7292379" y="1984954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lang="es-MX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Administrador </a:t>
            </a:r>
            <a:r>
              <a:rPr lang="es-CO" sz="160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301;p20_admin_copy">
            <a:extLst>
              <a:ext uri="{FF2B5EF4-FFF2-40B4-BE49-F238E27FC236}">
                <a16:creationId xmlns:a16="http://schemas.microsoft.com/office/drawing/2014/main" id="{1B2CA836-72C6-1BD4-B08E-A8A34E7057D5}"/>
              </a:ext>
            </a:extLst>
          </p:cNvPr>
          <p:cNvSpPr/>
          <p:nvPr/>
        </p:nvSpPr>
        <p:spPr>
          <a:xfrm>
            <a:off x="6540184" y="2631453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Configurar y mantener el sistema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02;p20_admin_copy">
            <a:extLst>
              <a:ext uri="{FF2B5EF4-FFF2-40B4-BE49-F238E27FC236}">
                <a16:creationId xmlns:a16="http://schemas.microsoft.com/office/drawing/2014/main" id="{11D213A9-22D6-CF99-D959-62F5E3D952F8}"/>
              </a:ext>
            </a:extLst>
          </p:cNvPr>
          <p:cNvSpPr/>
          <p:nvPr/>
        </p:nvSpPr>
        <p:spPr>
          <a:xfrm>
            <a:off x="6507480" y="3411135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servicios y categorías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303;p20_admin_copy">
            <a:extLst>
              <a:ext uri="{FF2B5EF4-FFF2-40B4-BE49-F238E27FC236}">
                <a16:creationId xmlns:a16="http://schemas.microsoft.com/office/drawing/2014/main" id="{66EF8732-0290-5A3B-585C-6D5A6C7DAC72}"/>
              </a:ext>
            </a:extLst>
          </p:cNvPr>
          <p:cNvSpPr/>
          <p:nvPr/>
        </p:nvSpPr>
        <p:spPr>
          <a:xfrm>
            <a:off x="6507480" y="4216230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Administrar cuentas y permisos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304;p20_admin_copy">
            <a:extLst>
              <a:ext uri="{FF2B5EF4-FFF2-40B4-BE49-F238E27FC236}">
                <a16:creationId xmlns:a16="http://schemas.microsoft.com/office/drawing/2014/main" id="{6D1BECC9-2584-AA30-A430-3A2BC86A7953}"/>
              </a:ext>
            </a:extLst>
          </p:cNvPr>
          <p:cNvSpPr/>
          <p:nvPr/>
        </p:nvSpPr>
        <p:spPr>
          <a:xfrm>
            <a:off x="6507480" y="5021325"/>
            <a:ext cx="217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Supervisar el funcionamiento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06;p20">
            <a:extLst>
              <a:ext uri="{FF2B5EF4-FFF2-40B4-BE49-F238E27FC236}">
                <a16:creationId xmlns:a16="http://schemas.microsoft.com/office/drawing/2014/main" id="{AE826A2E-EB00-8AEE-F02A-83B3D88FCB1B}"/>
              </a:ext>
            </a:extLst>
          </p:cNvPr>
          <p:cNvSpPr/>
          <p:nvPr/>
        </p:nvSpPr>
        <p:spPr>
          <a:xfrm>
            <a:off x="9214225" y="1645920"/>
            <a:ext cx="2636520" cy="4480500"/>
          </a:xfrm>
          <a:prstGeom prst="roundRect">
            <a:avLst>
              <a:gd name="adj" fmla="val 1860"/>
            </a:avLst>
          </a:prstGeom>
          <a:solidFill>
            <a:srgbClr val="00304D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07;p20">
            <a:extLst>
              <a:ext uri="{FF2B5EF4-FFF2-40B4-BE49-F238E27FC236}">
                <a16:creationId xmlns:a16="http://schemas.microsoft.com/office/drawing/2014/main" id="{8FD5F33E-E5AB-ABCC-A0F4-94EF3EA13332}"/>
              </a:ext>
            </a:extLst>
          </p:cNvPr>
          <p:cNvSpPr/>
          <p:nvPr/>
        </p:nvSpPr>
        <p:spPr>
          <a:xfrm>
            <a:off x="9507524" y="1916404"/>
            <a:ext cx="548700" cy="5487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08;p20" descr="icons/cloud.png">
            <a:extLst>
              <a:ext uri="{FF2B5EF4-FFF2-40B4-BE49-F238E27FC236}">
                <a16:creationId xmlns:a16="http://schemas.microsoft.com/office/drawing/2014/main" id="{95B2A284-808A-71D1-DA9E-0EEA000742E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50200" y="2048473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09;p20">
            <a:extLst>
              <a:ext uri="{FF2B5EF4-FFF2-40B4-BE49-F238E27FC236}">
                <a16:creationId xmlns:a16="http://schemas.microsoft.com/office/drawing/2014/main" id="{BA7AAC97-6737-BB76-CD45-C0790590DB7F}"/>
              </a:ext>
            </a:extLst>
          </p:cNvPr>
          <p:cNvSpPr/>
          <p:nvPr/>
        </p:nvSpPr>
        <p:spPr>
          <a:xfrm>
            <a:off x="10213144" y="1993392"/>
            <a:ext cx="148068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s-CO" sz="1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tecnológico</a:t>
            </a:r>
            <a:endParaRPr sz="1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310;p20">
            <a:extLst>
              <a:ext uri="{FF2B5EF4-FFF2-40B4-BE49-F238E27FC236}">
                <a16:creationId xmlns:a16="http://schemas.microsoft.com/office/drawing/2014/main" id="{CB5FAD56-795B-E8AD-C42B-A4BBEC62C83B}"/>
              </a:ext>
            </a:extLst>
          </p:cNvPr>
          <p:cNvSpPr/>
          <p:nvPr/>
        </p:nvSpPr>
        <p:spPr>
          <a:xfrm>
            <a:off x="9442885" y="2631453"/>
            <a:ext cx="2179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Aplicación web responsive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311;p20">
            <a:extLst>
              <a:ext uri="{FF2B5EF4-FFF2-40B4-BE49-F238E27FC236}">
                <a16:creationId xmlns:a16="http://schemas.microsoft.com/office/drawing/2014/main" id="{9EB6FA47-F09E-B510-F734-3D6ADEC52ED4}"/>
              </a:ext>
            </a:extLst>
          </p:cNvPr>
          <p:cNvSpPr/>
          <p:nvPr/>
        </p:nvSpPr>
        <p:spPr>
          <a:xfrm>
            <a:off x="9442885" y="3411135"/>
            <a:ext cx="2179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Arquitectura basada en Java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12;p20">
            <a:extLst>
              <a:ext uri="{FF2B5EF4-FFF2-40B4-BE49-F238E27FC236}">
                <a16:creationId xmlns:a16="http://schemas.microsoft.com/office/drawing/2014/main" id="{9C773D93-DFFA-EDDC-CFCF-1F76623884DD}"/>
              </a:ext>
            </a:extLst>
          </p:cNvPr>
          <p:cNvSpPr/>
          <p:nvPr/>
        </p:nvSpPr>
        <p:spPr>
          <a:xfrm>
            <a:off x="9442885" y="4216230"/>
            <a:ext cx="2179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Base de datos MySQL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313;p20">
            <a:extLst>
              <a:ext uri="{FF2B5EF4-FFF2-40B4-BE49-F238E27FC236}">
                <a16:creationId xmlns:a16="http://schemas.microsoft.com/office/drawing/2014/main" id="{31E249CE-523F-3238-868F-2AC299018412}"/>
              </a:ext>
            </a:extLst>
          </p:cNvPr>
          <p:cNvSpPr/>
          <p:nvPr/>
        </p:nvSpPr>
        <p:spPr>
          <a:xfrm>
            <a:off x="9442885" y="5018990"/>
            <a:ext cx="2179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lang="es-CO" sz="950" b="1" i="0" u="none" strike="noStrike" cap="none" dirty="0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s-CO" sz="1100" b="0" i="0" u="none" strike="noStrike" cap="none" dirty="0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Diseño de la base de datos</a:t>
            </a:r>
            <a:endParaRPr sz="11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lang="es-CO" sz="3600" b="1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 sz="3600" b="1">
              <a:solidFill>
                <a:srgbClr val="38AA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88" name="Google Shape;488;p27"/>
          <p:cNvSpPr/>
          <p:nvPr/>
        </p:nvSpPr>
        <p:spPr>
          <a:xfrm>
            <a:off x="609600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27"/>
          <p:cNvSpPr/>
          <p:nvPr/>
        </p:nvSpPr>
        <p:spPr>
          <a:xfrm>
            <a:off x="627888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0" name="Google Shape;490;p27" descr="icons/chec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41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7"/>
          <p:cNvSpPr/>
          <p:nvPr/>
        </p:nvSpPr>
        <p:spPr>
          <a:xfrm>
            <a:off x="705612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citas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705612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5B6670"/>
              </a:buClr>
              <a:buSzPts val="1100"/>
            </a:pPr>
            <a:r>
              <a:rPr lang="es-ES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Permite crear, consultar, modificar y cancelar citas, manteniendo la disponibilidad actualizada.</a:t>
            </a:r>
          </a:p>
        </p:txBody>
      </p:sp>
      <p:sp>
        <p:nvSpPr>
          <p:cNvPr id="493" name="Google Shape;493;p27"/>
          <p:cNvSpPr/>
          <p:nvPr/>
        </p:nvSpPr>
        <p:spPr>
          <a:xfrm>
            <a:off x="548640" y="1698916"/>
            <a:ext cx="1069086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731520" y="2110396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5" name="Google Shape;495;p27" descr="icons/leaf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6054" y="226493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1508760" y="1863508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Creación de aplicación web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1508760" y="2201836"/>
            <a:ext cx="959346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100"/>
            </a:pPr>
            <a:r>
              <a:rPr lang="es-ES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Se desarrolla exitosamente una aplicación web que centraliza la gestión de citas y servicios de Loren Nails, reduciendo la dependencia de procesos manuales.</a:t>
            </a:r>
          </a:p>
        </p:txBody>
      </p:sp>
      <p:sp>
        <p:nvSpPr>
          <p:cNvPr id="498" name="Google Shape;498;p27"/>
          <p:cNvSpPr/>
          <p:nvPr/>
        </p:nvSpPr>
        <p:spPr>
          <a:xfrm>
            <a:off x="548640" y="3383280"/>
            <a:ext cx="5143500" cy="1417200"/>
          </a:xfrm>
          <a:prstGeom prst="roundRect">
            <a:avLst>
              <a:gd name="adj" fmla="val 5161"/>
            </a:avLst>
          </a:prstGeom>
          <a:solidFill>
            <a:srgbClr val="F6F6F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73152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0" name="Google Shape;500;p27" descr="icons/mobil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605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27"/>
          <p:cNvSpPr/>
          <p:nvPr/>
        </p:nvSpPr>
        <p:spPr>
          <a:xfrm>
            <a:off x="150876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lang="es-CO" sz="1400" b="1" i="0" u="none" strike="noStrike" cap="none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50876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6670"/>
              </a:buClr>
              <a:buSzPts val="1100"/>
            </a:pPr>
            <a:r>
              <a:rPr lang="es-ES" dirty="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Interfaz pensada a partir de encuestas a clientes reales, orientada a un agendamiento sencillo y accesible.</a:t>
            </a:r>
          </a:p>
        </p:txBody>
      </p:sp>
      <p:sp>
        <p:nvSpPr>
          <p:cNvPr id="508" name="Google Shape;508;p27"/>
          <p:cNvSpPr/>
          <p:nvPr/>
        </p:nvSpPr>
        <p:spPr>
          <a:xfrm>
            <a:off x="548640" y="5257800"/>
            <a:ext cx="10607100" cy="914400"/>
          </a:xfrm>
          <a:prstGeom prst="roundRect">
            <a:avLst>
              <a:gd name="adj" fmla="val 8000"/>
            </a:avLst>
          </a:prstGeom>
          <a:solidFill>
            <a:srgbClr val="FFF3D6"/>
          </a:solidFill>
          <a:ln>
            <a:noFill/>
          </a:ln>
          <a:effectLst>
            <a:outerShdw blurRad="101600" dist="38100" dir="5400000" algn="bl" rotWithShape="0">
              <a:srgbClr val="1A1A1A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7"/>
          <p:cNvSpPr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00304D"/>
              </a:buClr>
              <a:buSzPts val="1250"/>
            </a:pPr>
            <a:r>
              <a:rPr lang="es-CO" sz="1250" b="1" dirty="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Trabajo futuro:  sistema de calificación de manicuristas, recordatorios automáticos y posible integración con pagos en línea.</a:t>
            </a:r>
            <a:endParaRPr sz="125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691</Words>
  <Application>Microsoft Office PowerPoint</Application>
  <PresentationFormat>Panorámica</PresentationFormat>
  <Paragraphs>100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Cambria</vt:lpstr>
      <vt:lpstr>Work Sans</vt:lpstr>
      <vt:lpstr>Calibri (MS) Bold</vt:lpstr>
      <vt:lpstr>Work Sans SemiBold</vt:lpstr>
      <vt:lpstr>Arial</vt:lpstr>
      <vt:lpstr>Calibri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Loren Sofia</dc:creator>
  <cp:lastModifiedBy>24A_9212109775</cp:lastModifiedBy>
  <cp:revision>12</cp:revision>
  <dcterms:modified xsi:type="dcterms:W3CDTF">2026-09-23T15:08:43Z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2026-09-16T11:51:55Z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cf49229d-f8d5-43f9-8091-0377f63c5fb8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